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70" r:id="rId5"/>
    <p:sldId id="271" r:id="rId6"/>
    <p:sldId id="272" r:id="rId7"/>
    <p:sldId id="259" r:id="rId8"/>
    <p:sldId id="261" r:id="rId9"/>
    <p:sldId id="262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003A"/>
    <a:srgbClr val="FC95B9"/>
    <a:srgbClr val="F5ABC5"/>
    <a:srgbClr val="F5D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03D5D-CC00-78DA-5CD1-5E7C6CC047C6}" v="1071" dt="2026-06-25T15:43:26.571"/>
    <p1510:client id="{A01EEEDF-06FF-4755-9337-9B571817F408}" v="2285" dt="2026-06-25T15:38:40.218"/>
    <p1510:client id="{A9910723-1C5B-5231-F55F-DA9D4B5F073B}" v="2" dt="2026-06-25T08:20:19.349"/>
    <p1510:client id="{AAC6ABBE-DCF0-F465-6A03-85EEA3F21F09}" v="13" dt="2026-06-26T00:42:16.156"/>
    <p1510:client id="{AFFF5D80-52CC-ED97-7CB8-1709010204FD}" v="753" dt="2026-06-25T14:38:47.431"/>
    <p1510:client id="{BA967861-402C-0663-3817-119AEE642229}" v="108" dt="2026-06-25T12:33:15.006"/>
    <p1510:client id="{BEB4561C-12B2-BFCB-4849-D20AF687CB16}" v="260" dt="2026-06-25T16:02:09.570"/>
    <p1510:client id="{BEF19EF5-0E7E-549C-3C12-DEEB0955385C}" v="335" dt="2026-06-25T17:25:53.968"/>
    <p1510:client id="{C11AD175-220E-46DB-E5E6-17F0BEC4AF84}" v="1260" dt="2026-06-25T15:54:57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09DF4-03BF-4B16-AE6E-37F56CBC7488}" type="datetimeFigureOut"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8CB4C-24A1-4291-9A15-22D5C8028475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880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D988-E7DA-FFDB-3353-685EE6D6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24715-0A7F-F48A-68F0-2811899BB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F84CF-5F03-3373-2135-41C10BBB2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solidFill>
                <a:srgbClr val="4B5563"/>
              </a:solidFill>
              <a:highlight>
                <a:srgbClr val="FFFFFF"/>
              </a:highlight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C42FC-2DDE-46E6-78D4-F2B5EA2BF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69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0BBB-EE54-7B7A-C446-B417AF1AC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53E08-6C43-E66F-7AEC-23A1EEAD9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74E19-42C9-DD8B-F256-E6B89A89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9DE48-84D5-12B7-93F7-F7AD718D8F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17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7970-48FE-A3A1-4AFC-E9B32E1A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03AB8-25F2-87B0-9948-52DEC15AE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284CF-8027-95D7-061E-05F25D076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B9262-F9CE-CF87-92BA-139B26EE71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71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B5DF0-FB84-97D3-F611-7856CFCE3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E4044-A655-BBE0-0326-4CBDB81B9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B7524-9841-A760-1973-D1FB47B86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62146-CE85-1F6B-06B9-2FC69B851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91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사주아이 만세력 데이터 계산</a:t>
            </a:r>
            <a:endParaRPr lang="en-US" altLang="ko-KR">
              <a:ea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B16D7A-02B1-549A-A476-61052C1575F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00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969264"/>
            <a:ext cx="10744200" cy="0"/>
          </a:xfrm>
          <a:prstGeom prst="line">
            <a:avLst/>
          </a:prstGeom>
          <a:noFill/>
          <a:ln w="10160">
            <a:solidFill>
              <a:srgbClr val="EAA0B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7065" y="502920"/>
            <a:ext cx="3103154" cy="56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-120"/>
              </a:rPr>
              <a:t>LG BOOTCAMP 2026</a:t>
            </a:r>
            <a:endParaRPr 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399452" y="502920"/>
            <a:ext cx="2092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중간 결과보고서</a:t>
            </a:r>
            <a:endParaRPr 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37637" y="2615184"/>
            <a:ext cx="5852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54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Oracle</a:t>
            </a:r>
            <a:endParaRPr lang="en-US" altLang="ko-KR" sz="54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34154" y="3426242"/>
            <a:ext cx="6844937" cy="960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Embedded </a:t>
            </a:r>
            <a:r>
              <a:rPr lang="en-US" sz="1600" err="1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기반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온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-</a:t>
            </a:r>
            <a:r>
              <a:rPr lang="ko-KR" alt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디바이스 AI 관상 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및 </a:t>
            </a:r>
            <a:r>
              <a:rPr lang="en-US" sz="1600" err="1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사주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분석</a:t>
            </a:r>
            <a:r>
              <a:rPr 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FEE5EE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서비스</a:t>
            </a:r>
            <a:endParaRPr lang="ko-KR" altLang="en-US" sz="1600">
              <a:solidFill>
                <a:srgbClr val="FEE5EE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82806" y="5374060"/>
            <a:ext cx="4728173" cy="98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/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A반 1팀           </a:t>
            </a:r>
          </a:p>
          <a:p>
            <a:pPr algn="r"/>
            <a:endParaRPr lang="ko-KR" altLang="en-US" sz="16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  <a:cs typeface="Malgun Gothic" pitchFamily="34" charset="-120"/>
            </a:endParaRPr>
          </a:p>
          <a:p>
            <a:pPr algn="r"/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박현우</a:t>
            </a:r>
            <a:r>
              <a:rPr 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· </a:t>
            </a:r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김승진</a:t>
            </a:r>
            <a:r>
              <a:rPr 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 · </a:t>
            </a:r>
            <a:r>
              <a:rPr lang="ko-KR" altLang="en-US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나혁주</a:t>
            </a:r>
            <a:r>
              <a:rPr lang="en-US" altLang="ko-KR" sz="1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 · </a:t>
            </a:r>
            <a:r>
              <a:rPr lang="en-US" altLang="ko-KR" sz="1600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송유진</a:t>
            </a:r>
            <a:endParaRPr lang="ko-KR" sz="16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00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566928"/>
            <a:ext cx="54864" cy="42062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98455" y="748356"/>
            <a:ext cx="2483394" cy="9614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err="1">
                <a:solidFill>
                  <a:srgbClr val="FFFFFF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목차</a:t>
            </a:r>
            <a:endParaRPr lang="en-US" sz="4400" b="1" err="1">
              <a:solidFill>
                <a:srgbClr val="FFFFFF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66456" y="1926482"/>
            <a:ext cx="4677954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01. </a:t>
            </a:r>
            <a:r>
              <a:rPr lang="en-US" sz="2800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주제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 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선정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배경</a:t>
            </a:r>
            <a:endParaRPr lang="ko-KR" altLang="en-US" sz="28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66456" y="2964253"/>
            <a:ext cx="4677954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02. </a:t>
            </a:r>
            <a:r>
              <a:rPr lang="en-US" sz="2800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개발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 목표 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및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진행사항</a:t>
            </a:r>
            <a:endParaRPr lang="ko-KR" altLang="en-US" sz="28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66456" y="4001879"/>
            <a:ext cx="4677954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03. </a:t>
            </a:r>
            <a:r>
              <a:rPr lang="en-US" sz="2800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핵심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800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구현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800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기술</a:t>
            </a:r>
            <a:endParaRPr lang="en-US" sz="2800" err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766456" y="4974336"/>
            <a:ext cx="4677954" cy="63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04. 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기대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800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효과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및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향후</a:t>
            </a:r>
            <a:r>
              <a:rPr 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ko-KR" altLang="en-US" sz="28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계획</a:t>
            </a:r>
            <a:endParaRPr lang="ko-KR" altLang="en-US" sz="2800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3E3D4-BF1F-D3F6-566E-2085CEDE8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9D0117-0832-3823-7A5A-174E5BB7B386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2190F0-7429-11E4-A0A8-65C456E7E3D2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E98250-F0DD-5358-15AB-D2A380802561}"/>
              </a:ext>
            </a:extLst>
          </p:cNvPr>
          <p:cNvSpPr/>
          <p:nvPr/>
        </p:nvSpPr>
        <p:spPr>
          <a:xfrm>
            <a:off x="565575" y="1889135"/>
            <a:ext cx="11169288" cy="995314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Malgun Gothic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3234038-333B-0983-4853-0B9C50A0D10D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WHY NOW -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왜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지금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사주</a:t>
            </a:r>
            <a:r>
              <a:rPr lang="en-US" sz="1400" b="1">
                <a:solidFill>
                  <a:srgbClr val="B0003A"/>
                </a:solidFill>
                <a:highlight>
                  <a:srgbClr val="FFFFFF"/>
                </a:highlight>
                <a:ea typeface="+mn-lt"/>
                <a:cs typeface="+mn-lt"/>
              </a:rPr>
              <a:t>·</a:t>
            </a:r>
            <a:r>
              <a:rPr lang="ko-KR" altLang="en-US" sz="1400" b="1">
                <a:solidFill>
                  <a:srgbClr val="B0003A"/>
                </a:solidFill>
                <a:highlight>
                  <a:srgbClr val="FFFFFF"/>
                </a:highlight>
                <a:latin typeface="LG Smart_H2.0 R"/>
                <a:ea typeface="LG Smart_H2.0 R"/>
                <a:cs typeface="+mn-lt"/>
              </a:rPr>
              <a:t>관상인가</a:t>
            </a:r>
            <a:endParaRPr lang="en-US" sz="1400" b="1">
              <a:solidFill>
                <a:srgbClr val="B0003A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0BD5B9-497C-9E6C-C606-BF89479A884B}"/>
              </a:ext>
            </a:extLst>
          </p:cNvPr>
          <p:cNvSpPr/>
          <p:nvPr/>
        </p:nvSpPr>
        <p:spPr>
          <a:xfrm>
            <a:off x="565574" y="3426386"/>
            <a:ext cx="11169288" cy="995314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Malgun Gothic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0F2DA7-30D6-A7A1-0896-F8D45C9DEB95}"/>
              </a:ext>
            </a:extLst>
          </p:cNvPr>
          <p:cNvSpPr/>
          <p:nvPr/>
        </p:nvSpPr>
        <p:spPr>
          <a:xfrm>
            <a:off x="565573" y="4890750"/>
            <a:ext cx="11169288" cy="995314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Malgun Gothic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7CCB2DE0-7DE3-488B-EEE2-7B5326B4774D}"/>
              </a:ext>
            </a:extLst>
          </p:cNvPr>
          <p:cNvSpPr/>
          <p:nvPr/>
        </p:nvSpPr>
        <p:spPr>
          <a:xfrm>
            <a:off x="749807" y="2119085"/>
            <a:ext cx="2995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B0003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1</a:t>
            </a:r>
            <a:endParaRPr lang="ko-KR" altLang="en-US" sz="2500" b="1">
              <a:solidFill>
                <a:srgbClr val="B0003A"/>
              </a:solidFill>
              <a:latin typeface="Malgun Gothic"/>
              <a:ea typeface="LG스마트체2.0 Regular" panose="020B0600000101010101" pitchFamily="50" charset="-127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F59EB76-0CDF-0833-C039-F626DABB0D96}"/>
              </a:ext>
            </a:extLst>
          </p:cNvPr>
          <p:cNvSpPr/>
          <p:nvPr/>
        </p:nvSpPr>
        <p:spPr>
          <a:xfrm>
            <a:off x="1051162" y="2147780"/>
            <a:ext cx="4509153" cy="17739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endParaRPr lang="en-US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66178F2-B75F-9993-F7E8-E856D2FA7BA3}"/>
              </a:ext>
            </a:extLst>
          </p:cNvPr>
          <p:cNvSpPr/>
          <p:nvPr/>
        </p:nvSpPr>
        <p:spPr>
          <a:xfrm>
            <a:off x="1143927" y="2167659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미래 불확실성 속에서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자기이해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ko-KR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진로</a:t>
            </a:r>
            <a:r>
              <a:rPr lang="en-US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ko-KR" altLang="en-US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인간관계</a:t>
            </a:r>
            <a:r>
              <a:rPr lang="ko-KR" altLang="en-US" sz="16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에 대한 심리적 해답을 찾으려는 수요가 꾸준히 증가 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06CC9617-AD6F-0BB9-4E74-5215FBEADB47}"/>
              </a:ext>
            </a:extLst>
          </p:cNvPr>
          <p:cNvSpPr/>
          <p:nvPr/>
        </p:nvSpPr>
        <p:spPr>
          <a:xfrm>
            <a:off x="776310" y="3689467"/>
            <a:ext cx="2995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B0003A"/>
                </a:solidFill>
                <a:latin typeface="LG스마트체2.0 Regular"/>
                <a:ea typeface="LG스마트체2.0 Regular" panose="020B0600000101010101" pitchFamily="50" charset="-127"/>
              </a:rPr>
              <a:t>2</a:t>
            </a:r>
            <a:endParaRPr lang="en-US" altLang="ko-KR" sz="2500" b="1">
              <a:solidFill>
                <a:srgbClr val="B0003A"/>
              </a:solidFill>
              <a:latin typeface="LG스마트체2.0 Regular"/>
              <a:ea typeface="LG스마트체2.0 Regular" panose="020B0600000101010101" pitchFamily="50" charset="-127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C7FC3D4-6127-6641-E745-7F7EDE98EF6E}"/>
              </a:ext>
            </a:extLst>
          </p:cNvPr>
          <p:cNvSpPr/>
          <p:nvPr/>
        </p:nvSpPr>
        <p:spPr>
          <a:xfrm>
            <a:off x="1170430" y="3738041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MZ세대에게 사주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관상은 미신이 아니라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자기탐색이자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놀이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콘텐츠</a:t>
            </a:r>
            <a:r>
              <a:rPr lang="ko-KR" altLang="en-US" sz="16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로 소비되는 추세 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CBF71753-003C-F750-2B80-594258576437}"/>
              </a:ext>
            </a:extLst>
          </p:cNvPr>
          <p:cNvSpPr/>
          <p:nvPr/>
        </p:nvSpPr>
        <p:spPr>
          <a:xfrm>
            <a:off x="809440" y="5147205"/>
            <a:ext cx="29950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B0003A"/>
                </a:solidFill>
                <a:latin typeface="LG스마트체2.0 Regular"/>
                <a:ea typeface="LG스마트체2.0 Regular" panose="020B0600000101010101" pitchFamily="50" charset="-127"/>
              </a:rPr>
              <a:t>3</a:t>
            </a: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0EB1E0C2-0ACE-3F11-B90D-B956CB0C80C7}"/>
              </a:ext>
            </a:extLst>
          </p:cNvPr>
          <p:cNvSpPr/>
          <p:nvPr/>
        </p:nvSpPr>
        <p:spPr>
          <a:xfrm>
            <a:off x="1203560" y="5195779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대학 축제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팝업스토어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행사 </a:t>
            </a:r>
            <a:r>
              <a:rPr lang="ko-KR" sz="16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관광지 등 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2030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밀집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공간에서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체험형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서비스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수요</a:t>
            </a:r>
            <a:r>
              <a:rPr lang="ko-KR" altLang="en-US" sz="16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가 특히 큼 </a:t>
            </a:r>
          </a:p>
        </p:txBody>
      </p:sp>
    </p:spTree>
    <p:extLst>
      <p:ext uri="{BB962C8B-B14F-4D97-AF65-F5344CB8AC3E}">
        <p14:creationId xmlns:p14="http://schemas.microsoft.com/office/powerpoint/2010/main" val="209037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277CC-6E99-1330-2192-3BEF3282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55E4C4-6AC5-7BAD-FB6C-68B057375224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03AAB1-C1B0-4181-441C-10EAEEAA0664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106F64C-4621-9193-AD15-1C10773D7793}"/>
              </a:ext>
            </a:extLst>
          </p:cNvPr>
          <p:cNvSpPr/>
          <p:nvPr/>
        </p:nvSpPr>
        <p:spPr>
          <a:xfrm>
            <a:off x="575042" y="2260511"/>
            <a:ext cx="1587966" cy="995314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ea typeface="Malgun Gothic"/>
              </a:rPr>
              <a:t>50</a:t>
            </a:r>
            <a:r>
              <a:rPr lang="ko-KR" altLang="en-US" sz="2000" b="1">
                <a:ea typeface="Malgun Gothic"/>
              </a:rPr>
              <a:t>억</a:t>
            </a:r>
            <a:endParaRPr lang="en-US" altLang="ko-KR" sz="2000"/>
          </a:p>
          <a:p>
            <a:pPr algn="ctr"/>
            <a:r>
              <a:rPr lang="ko-KR" altLang="en-US" sz="1000">
                <a:ea typeface="Malgun Gothic"/>
              </a:rPr>
              <a:t>창업 수익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F784E66-0E19-DF00-D408-07046F83A2ED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PROVEN - 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'AI </a:t>
            </a:r>
            <a:r>
              <a:rPr lang="en-US" altLang="ko-KR" sz="14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사주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'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사주아이의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폭발적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latin typeface="LG스마트체2.0 Regular"/>
                <a:ea typeface="LG스마트체2.0 Regular"/>
                <a:cs typeface="+mn-lt"/>
              </a:rPr>
              <a:t>성공</a:t>
            </a:r>
            <a:endParaRPr lang="en-US" altLang="ko-KR" sz="1400" b="1" err="1">
              <a:solidFill>
                <a:srgbClr val="B0003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1C996076-F31B-605D-C9C0-2B33B703D188}"/>
              </a:ext>
            </a:extLst>
          </p:cNvPr>
          <p:cNvSpPr/>
          <p:nvPr/>
        </p:nvSpPr>
        <p:spPr>
          <a:xfrm>
            <a:off x="565880" y="3808089"/>
            <a:ext cx="9491970" cy="42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비개발자 1인 창업 </a:t>
            </a:r>
            <a:r>
              <a:rPr lang="ko-KR" sz="1400">
                <a:solidFill>
                  <a:schemeClr val="bg2">
                    <a:lumMod val="49000"/>
                  </a:schemeClr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</a:t>
            </a: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광고비</a:t>
            </a:r>
            <a:r>
              <a:rPr lang="ko-KR" altLang="en-US" sz="1400">
                <a:solidFill>
                  <a:srgbClr val="4B5563"/>
                </a:solidFill>
                <a:latin typeface="LG스마트체2.0 Regular"/>
                <a:ea typeface="LG스마트체2.0 Regular"/>
              </a:rPr>
              <a:t> 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0원·</a:t>
            </a:r>
            <a:r>
              <a:rPr lang="ko-KR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생성형 AI 기반 </a:t>
            </a: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990원 사주로 폭발적 성장.</a:t>
            </a:r>
            <a:br>
              <a:rPr lang="ko-KR" altLang="en-US" sz="1400">
                <a:highlight>
                  <a:srgbClr val="FFFFFF"/>
                </a:highlight>
                <a:latin typeface="LG Smart_H2.0 R"/>
                <a:ea typeface="LG Smart_H2.0 R"/>
              </a:rPr>
            </a:b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"왜 이런 운인지" 이유와 </a:t>
            </a:r>
            <a:r>
              <a:rPr lang="ko-KR" altLang="en-US" sz="1400" b="1">
                <a:solidFill>
                  <a:srgbClr val="B0003A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개운법</a:t>
            </a:r>
            <a:r>
              <a:rPr lang="ko-KR" altLang="en-US" sz="1400">
                <a:solidFill>
                  <a:srgbClr val="4B5563"/>
                </a:solidFill>
                <a:highlight>
                  <a:srgbClr val="FFFFFF"/>
                </a:highlight>
                <a:latin typeface="LG Smart_H2.0 R"/>
                <a:ea typeface="LG Smart_H2.0 R"/>
              </a:rPr>
              <a:t>까지 설명해 높은 만족도를 확보.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B37CA3-694C-25B9-A893-418B86CCB853}"/>
              </a:ext>
            </a:extLst>
          </p:cNvPr>
          <p:cNvSpPr/>
          <p:nvPr/>
        </p:nvSpPr>
        <p:spPr>
          <a:xfrm>
            <a:off x="2498184" y="2260511"/>
            <a:ext cx="1566195" cy="995314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ea typeface="Malgun Gothic"/>
              </a:rPr>
              <a:t>150</a:t>
            </a:r>
            <a:r>
              <a:rPr lang="ko-KR" altLang="en-US" sz="2000" b="1">
                <a:ea typeface="Malgun Gothic"/>
              </a:rPr>
              <a:t>억</a:t>
            </a:r>
            <a:endParaRPr lang="en-US" altLang="ko-KR" sz="2000"/>
          </a:p>
          <a:p>
            <a:pPr algn="ctr"/>
            <a:r>
              <a:rPr lang="ko-KR" altLang="en-US" sz="1000">
                <a:ea typeface="Malgun Gothic"/>
              </a:rPr>
              <a:t>누적 회원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93DDD7-4034-3082-95AF-92B1B8BC29D6}"/>
              </a:ext>
            </a:extLst>
          </p:cNvPr>
          <p:cNvSpPr/>
          <p:nvPr/>
        </p:nvSpPr>
        <p:spPr>
          <a:xfrm>
            <a:off x="4399556" y="2260511"/>
            <a:ext cx="1587966" cy="995314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ea typeface="Malgun Gothic"/>
              </a:rPr>
              <a:t>500</a:t>
            </a:r>
            <a:r>
              <a:rPr lang="ko-KR" altLang="en-US" sz="2000" b="1">
                <a:ea typeface="Malgun Gothic"/>
              </a:rPr>
              <a:t>만</a:t>
            </a:r>
          </a:p>
          <a:p>
            <a:pPr algn="ctr"/>
            <a:r>
              <a:rPr lang="ko-KR" altLang="en-US" sz="1000">
                <a:ea typeface="Malgun Gothic"/>
              </a:rPr>
              <a:t>거래 건수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99E124-6285-33A8-EB2A-49402E19C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022" y="2139270"/>
            <a:ext cx="5274129" cy="270283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A2B1EEB-5A84-2F5A-43A4-DD66E027BB77}"/>
              </a:ext>
            </a:extLst>
          </p:cNvPr>
          <p:cNvSpPr txBox="1"/>
          <p:nvPr/>
        </p:nvSpPr>
        <p:spPr>
          <a:xfrm>
            <a:off x="8309429" y="4836886"/>
            <a:ext cx="3548743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/>
              <a:t>https://fastcampus.co.kr/story_interview_sajuvibecoding</a:t>
            </a:r>
            <a:endParaRPr lang="en-US" sz="1050"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94875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79497-0A9A-07FA-AC24-52C81734C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0E520F-1E3A-308D-20D9-A15F245286AB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05CB7B-EA53-E67B-5E87-032DAC17AF96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FA1559-D123-B052-C0BB-C01514790641}"/>
              </a:ext>
            </a:extLst>
          </p:cNvPr>
          <p:cNvSpPr/>
          <p:nvPr/>
        </p:nvSpPr>
        <p:spPr>
          <a:xfrm>
            <a:off x="568415" y="1717173"/>
            <a:ext cx="5497357" cy="466616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227AFC7-9333-6606-838F-CC2BCDA56120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REFERENCE –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저비용 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 AI </a:t>
            </a:r>
            <a:r>
              <a:rPr lang="en-US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콘텐츠화라는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공통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altLang="ko-KR" sz="1400" b="1" err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공식</a:t>
            </a:r>
            <a:endParaRPr lang="en-US" altLang="ko-KR" sz="1400" b="1" err="1">
              <a:solidFill>
                <a:srgbClr val="B0003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05BAE-6B83-BAB0-24DC-96997B9DAB02}"/>
              </a:ext>
            </a:extLst>
          </p:cNvPr>
          <p:cNvSpPr txBox="1"/>
          <p:nvPr/>
        </p:nvSpPr>
        <p:spPr>
          <a:xfrm>
            <a:off x="811313" y="1963425"/>
            <a:ext cx="2498671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rgbClr val="B0003A"/>
                </a:solidFill>
                <a:ea typeface="Malgun Gothic"/>
              </a:rPr>
              <a:t>사주아이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B84FB6-B792-A968-F8BB-86AF4DA45D8A}"/>
              </a:ext>
            </a:extLst>
          </p:cNvPr>
          <p:cNvSpPr txBox="1"/>
          <p:nvPr/>
        </p:nvSpPr>
        <p:spPr>
          <a:xfrm>
            <a:off x="811312" y="2374240"/>
            <a:ext cx="4002792" cy="1054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990원 AI 사주, 모바일 최적화, </a:t>
            </a:r>
            <a:endParaRPr lang="en-US" altLang="ko-KR" sz="1100">
              <a:solidFill>
                <a:schemeClr val="bg2">
                  <a:lumMod val="49000"/>
                </a:schemeClr>
              </a:solidFill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결과를 SNS/공유로 확산시켜 </a:t>
            </a:r>
            <a:endParaRPr lang="en-US" altLang="ko-KR" sz="1100">
              <a:solidFill>
                <a:schemeClr val="bg2">
                  <a:lumMod val="49000"/>
                </a:schemeClr>
              </a:solidFill>
              <a:ea typeface="맑은 고딕"/>
            </a:endParaRP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소셜 콘텐츠로 성장.</a:t>
            </a:r>
            <a:endParaRPr lang="en-US" altLang="ko-KR" sz="1100">
              <a:solidFill>
                <a:schemeClr val="bg2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A1A255-F09D-A13B-AE28-4CCE0E3FA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565" y="1961321"/>
            <a:ext cx="1977183" cy="43003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7F7A11E-855A-22F7-11AD-E613C9C3DB91}"/>
              </a:ext>
            </a:extLst>
          </p:cNvPr>
          <p:cNvSpPr txBox="1"/>
          <p:nvPr/>
        </p:nvSpPr>
        <p:spPr>
          <a:xfrm>
            <a:off x="6509747" y="1963424"/>
            <a:ext cx="2498671" cy="33855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rgbClr val="B0003A"/>
                </a:solidFill>
                <a:ea typeface="Malgun Gothic"/>
              </a:rPr>
              <a:t>청월당 사주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102CC5-28A1-4E40-87C1-AF3429936591}"/>
              </a:ext>
            </a:extLst>
          </p:cNvPr>
          <p:cNvSpPr txBox="1"/>
          <p:nvPr/>
        </p:nvSpPr>
        <p:spPr>
          <a:xfrm>
            <a:off x="6509746" y="2374240"/>
            <a:ext cx="4002792" cy="1054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사주 해석을 웹툰 형식으로 풀어내</a:t>
            </a: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진입장벽을 낮춘 사례.</a:t>
            </a:r>
          </a:p>
          <a:p>
            <a:pPr>
              <a:lnSpc>
                <a:spcPct val="200000"/>
              </a:lnSpc>
            </a:pPr>
            <a:r>
              <a:rPr lang="ko-KR" altLang="en-US" sz="1100">
                <a:solidFill>
                  <a:schemeClr val="bg2">
                    <a:lumMod val="49000"/>
                  </a:schemeClr>
                </a:solidFill>
                <a:ea typeface="Malgun Gothic"/>
              </a:rPr>
              <a:t>어려운 명리를 친근하게 전달.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1C92814-B2D6-0FAF-71A8-1C0D28BA2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852" y="3525078"/>
            <a:ext cx="1288072" cy="2736574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3A4F77-87C8-AE83-968C-9DA04F62ECDB}"/>
              </a:ext>
            </a:extLst>
          </p:cNvPr>
          <p:cNvSpPr/>
          <p:nvPr/>
        </p:nvSpPr>
        <p:spPr>
          <a:xfrm>
            <a:off x="6273476" y="1664164"/>
            <a:ext cx="5497357" cy="4666165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3B940-5655-0E4A-C9B4-85AD32019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723" y="3425686"/>
            <a:ext cx="1506852" cy="2829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978909-968C-6EB5-0883-E633D08C33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052" y="1802294"/>
            <a:ext cx="2017060" cy="438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3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E65EB-4EA3-E3F7-CDA8-CCB21EA4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393788-8F9E-D530-FCE1-A79E3218C028}"/>
              </a:ext>
            </a:extLst>
          </p:cNvPr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C4B48A-2AF2-D578-D23E-BE4B46EBC6AC}"/>
              </a:ext>
            </a:extLst>
          </p:cNvPr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01. </a:t>
            </a:r>
            <a:r>
              <a:rPr lang="en-US" sz="2500" b="1" err="1">
                <a:solidFill>
                  <a:srgbClr val="16171A"/>
                </a:solidFill>
                <a:ea typeface="LG스마트체2.0 Regular"/>
                <a:cs typeface="+mn-lt"/>
              </a:rPr>
              <a:t>주제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선정</a:t>
            </a:r>
            <a:r>
              <a:rPr 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ea typeface="LG스마트체2.0 Regular"/>
                <a:cs typeface="+mn-lt"/>
              </a:rPr>
              <a:t>배경</a:t>
            </a:r>
            <a:endParaRPr lang="en-US" sz="25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DD22E4-BCA1-1444-7B84-F3E6FE0298F5}"/>
              </a:ext>
            </a:extLst>
          </p:cNvPr>
          <p:cNvSpPr/>
          <p:nvPr/>
        </p:nvSpPr>
        <p:spPr>
          <a:xfrm>
            <a:off x="568415" y="1942459"/>
            <a:ext cx="5258818" cy="4467383"/>
          </a:xfrm>
          <a:prstGeom prst="roundRect">
            <a:avLst/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28E75FC-F92E-3999-C110-8239F2BBC24B}"/>
              </a:ext>
            </a:extLst>
          </p:cNvPr>
          <p:cNvSpPr/>
          <p:nvPr/>
        </p:nvSpPr>
        <p:spPr>
          <a:xfrm>
            <a:off x="806470" y="1289287"/>
            <a:ext cx="6168708" cy="4721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SO, ORACLE - </a:t>
            </a:r>
            <a:r>
              <a:rPr lang="en-US" sz="14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성공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공식은</a:t>
            </a:r>
            <a:r>
              <a:rPr 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잇되, 관상</a:t>
            </a:r>
            <a:r>
              <a:rPr lang="en-US" altLang="ko-KR" sz="1400" b="1">
                <a:solidFill>
                  <a:srgbClr val="B0003A"/>
                </a:solidFill>
                <a:highlight>
                  <a:srgbClr val="FFFFFF"/>
                </a:highlight>
                <a:latin typeface="Malgun Gothic"/>
                <a:ea typeface="Malgun Gothic"/>
              </a:rPr>
              <a:t>·</a:t>
            </a:r>
            <a:r>
              <a:rPr lang="ko-KR" altLang="en-US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온디바이스로 진화</a:t>
            </a:r>
            <a:r>
              <a:rPr lang="en-US" altLang="ko-KR" sz="14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 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D1BC1A-0C33-3189-0A3E-73B3B07143D3}"/>
              </a:ext>
            </a:extLst>
          </p:cNvPr>
          <p:cNvSpPr/>
          <p:nvPr/>
        </p:nvSpPr>
        <p:spPr>
          <a:xfrm>
            <a:off x="6366241" y="1942459"/>
            <a:ext cx="5225688" cy="4467383"/>
          </a:xfrm>
          <a:prstGeom prst="roundRect">
            <a:avLst/>
          </a:prstGeom>
          <a:solidFill>
            <a:srgbClr val="B0003A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en-US" altLang="ko-KR" sz="2000" b="1">
              <a:ea typeface="Malgun Gothic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60B0DC-A82B-C902-514E-3E007F2846C8}"/>
              </a:ext>
            </a:extLst>
          </p:cNvPr>
          <p:cNvCxnSpPr/>
          <p:nvPr/>
        </p:nvCxnSpPr>
        <p:spPr>
          <a:xfrm flipV="1">
            <a:off x="1062404" y="2833034"/>
            <a:ext cx="4014452" cy="1083"/>
          </a:xfrm>
          <a:prstGeom prst="straightConnector1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0CDB84-C24C-F313-3D5F-04CFCDAFA2AB}"/>
              </a:ext>
            </a:extLst>
          </p:cNvPr>
          <p:cNvSpPr txBox="1"/>
          <p:nvPr/>
        </p:nvSpPr>
        <p:spPr>
          <a:xfrm>
            <a:off x="990217" y="2453755"/>
            <a:ext cx="24986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chemeClr val="bg2">
                    <a:lumMod val="49000"/>
                  </a:schemeClr>
                </a:solidFill>
                <a:ea typeface="Malgun Gothic"/>
              </a:rPr>
              <a:t>기존 AI 사주 서비스</a:t>
            </a:r>
            <a:endParaRPr lang="en-US" sz="1600" b="1">
              <a:solidFill>
                <a:schemeClr val="bg2">
                  <a:lumMod val="49000"/>
                </a:schemeClr>
              </a:solidFill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B38B1E-A69D-19F1-A782-000679A9FD3F}"/>
              </a:ext>
            </a:extLst>
          </p:cNvPr>
          <p:cNvSpPr txBox="1"/>
          <p:nvPr/>
        </p:nvSpPr>
        <p:spPr>
          <a:xfrm>
            <a:off x="1063103" y="2937458"/>
            <a:ext cx="4062427" cy="17473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생년월일 </a:t>
            </a:r>
            <a:r>
              <a:rPr lang="ko-KR" altLang="en-US" sz="1400" b="1">
                <a:solidFill>
                  <a:schemeClr val="bg2">
                    <a:lumMod val="49000"/>
                  </a:schemeClr>
                </a:solidFill>
                <a:ea typeface="Malgun Gothic"/>
              </a:rPr>
              <a:t>텍스트 입력</a:t>
            </a: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에 한정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사주 해석 </a:t>
            </a:r>
            <a:r>
              <a:rPr lang="ko-KR" altLang="en-US" sz="1400" b="1">
                <a:solidFill>
                  <a:schemeClr val="bg2">
                    <a:lumMod val="49000"/>
                  </a:schemeClr>
                </a:solidFill>
                <a:ea typeface="Malgun Gothic"/>
              </a:rPr>
              <a:t>단일 모달</a:t>
            </a: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 b="1">
                <a:solidFill>
                  <a:schemeClr val="bg2">
                    <a:lumMod val="49000"/>
                  </a:schemeClr>
                </a:solidFill>
                <a:ea typeface="Malgun Gothic"/>
              </a:rPr>
              <a:t>클라우드</a:t>
            </a: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 기반 -&gt; 서버.통신 비용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chemeClr val="bg2">
                    <a:lumMod val="49000"/>
                  </a:schemeClr>
                </a:solidFill>
                <a:ea typeface="Malgun Gothic"/>
              </a:rPr>
              <a:t>민감정보(얼굴)는 다루지 않음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B8DD0B-F906-7014-DA6C-DD29C3FAFC75}"/>
              </a:ext>
            </a:extLst>
          </p:cNvPr>
          <p:cNvCxnSpPr>
            <a:cxnSpLocks/>
          </p:cNvCxnSpPr>
          <p:nvPr/>
        </p:nvCxnSpPr>
        <p:spPr>
          <a:xfrm flipV="1">
            <a:off x="6840351" y="2813155"/>
            <a:ext cx="4014452" cy="1083"/>
          </a:xfrm>
          <a:prstGeom prst="straightConnector1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26ED75-FC6C-54FD-BF99-BCE82C7BDC4E}"/>
              </a:ext>
            </a:extLst>
          </p:cNvPr>
          <p:cNvSpPr txBox="1"/>
          <p:nvPr/>
        </p:nvSpPr>
        <p:spPr>
          <a:xfrm>
            <a:off x="6768164" y="2433876"/>
            <a:ext cx="249867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00" b="1">
                <a:solidFill>
                  <a:srgbClr val="FFFFFF"/>
                </a:solidFill>
                <a:ea typeface="Malgun Gothic"/>
              </a:rPr>
              <a:t>Oracle의 차별점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FCE4F-ACF7-C252-4415-7539383EEFB1}"/>
              </a:ext>
            </a:extLst>
          </p:cNvPr>
          <p:cNvSpPr txBox="1"/>
          <p:nvPr/>
        </p:nvSpPr>
        <p:spPr>
          <a:xfrm>
            <a:off x="6841050" y="2937457"/>
            <a:ext cx="4546131" cy="17473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rgbClr val="FFFFFF"/>
                </a:solidFill>
                <a:ea typeface="Malgun Gothic"/>
              </a:rPr>
              <a:t>카메라 </a:t>
            </a:r>
            <a:r>
              <a:rPr lang="ko-KR" altLang="en-US" sz="1400" b="1" u="sng">
                <a:solidFill>
                  <a:srgbClr val="FFFFFF"/>
                </a:solidFill>
                <a:ea typeface="Malgun Gothic"/>
              </a:rPr>
              <a:t>관상+사주</a:t>
            </a:r>
            <a:r>
              <a:rPr lang="ko-KR" altLang="en-US" sz="1400">
                <a:solidFill>
                  <a:srgbClr val="FFFFFF"/>
                </a:solidFill>
                <a:ea typeface="Malgun Gothic"/>
              </a:rPr>
              <a:t> 멀티모달 체험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rgbClr val="FFFFFF"/>
                </a:solidFill>
                <a:ea typeface="Malgun Gothic"/>
              </a:rPr>
              <a:t>나와 </a:t>
            </a:r>
            <a:r>
              <a:rPr lang="ko-KR" altLang="en-US" sz="1400" b="1" u="sng">
                <a:solidFill>
                  <a:srgbClr val="FFFFFF"/>
                </a:solidFill>
                <a:ea typeface="Malgun Gothic"/>
              </a:rPr>
              <a:t>궁합 좋은 관상 추천</a:t>
            </a:r>
            <a:r>
              <a:rPr lang="ko-KR" altLang="en-US" sz="1400">
                <a:solidFill>
                  <a:srgbClr val="FFFFFF"/>
                </a:solidFill>
                <a:ea typeface="Malgun Gothic"/>
              </a:rPr>
              <a:t>까지 확장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 b="1" u="sng">
                <a:solidFill>
                  <a:srgbClr val="FFFFFF"/>
                </a:solidFill>
                <a:ea typeface="Malgun Gothic"/>
              </a:rPr>
              <a:t>100% 온디바이스(Edge AI)</a:t>
            </a:r>
            <a:r>
              <a:rPr lang="ko-KR" altLang="en-US" sz="1400">
                <a:solidFill>
                  <a:srgbClr val="FFFFFF"/>
                </a:solidFill>
                <a:ea typeface="Malgun Gothic"/>
              </a:rPr>
              <a:t> -&gt; 클라우드 비용 0</a:t>
            </a:r>
          </a:p>
          <a:p>
            <a:pPr marL="285750" indent="-285750">
              <a:lnSpc>
                <a:spcPct val="200000"/>
              </a:lnSpc>
              <a:buFont typeface="Calibri"/>
              <a:buChar char="-"/>
            </a:pPr>
            <a:r>
              <a:rPr lang="ko-KR" altLang="en-US" sz="1400">
                <a:solidFill>
                  <a:srgbClr val="FFFFFF"/>
                </a:solidFill>
                <a:ea typeface="Malgun Gothic"/>
              </a:rPr>
              <a:t>얼굴 이미지 외부 미전송 -&gt; </a:t>
            </a:r>
            <a:r>
              <a:rPr lang="ko-KR" altLang="en-US" sz="1400" b="1" u="sng">
                <a:solidFill>
                  <a:srgbClr val="FFFFFF"/>
                </a:solidFill>
                <a:ea typeface="Malgun Gothic"/>
              </a:rPr>
              <a:t>프라이버시 확보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B6073BE-16D9-979C-E7F5-AD069149EA0F}"/>
              </a:ext>
            </a:extLst>
          </p:cNvPr>
          <p:cNvSpPr/>
          <p:nvPr/>
        </p:nvSpPr>
        <p:spPr>
          <a:xfrm>
            <a:off x="5913527" y="4103395"/>
            <a:ext cx="366346" cy="146538"/>
          </a:xfrm>
          <a:prstGeom prst="rightArrow">
            <a:avLst/>
          </a:prstGeom>
          <a:solidFill>
            <a:srgbClr val="B0003A"/>
          </a:solidFill>
          <a:ln>
            <a:solidFill>
              <a:srgbClr val="B000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0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02. </a:t>
            </a:r>
            <a:r>
              <a:rPr lang="en-US" sz="25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개발</a:t>
            </a:r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 </a:t>
            </a:r>
            <a:r>
              <a:rPr lang="en-US" sz="25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목표</a:t>
            </a:r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및</a:t>
            </a:r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진행사항</a:t>
            </a:r>
            <a:endParaRPr lang="ko-KR" altLang="en-US" sz="2500" b="1">
              <a:solidFill>
                <a:srgbClr val="16171A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8663" y="1719072"/>
            <a:ext cx="11662954" cy="530352"/>
          </a:xfrm>
          <a:prstGeom prst="roundRect">
            <a:avLst>
              <a:gd name="adj" fmla="val 6897"/>
            </a:avLst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9135" y="1879890"/>
            <a:ext cx="117957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구분</a:t>
            </a:r>
            <a:endParaRPr 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86283" y="1879890"/>
            <a:ext cx="37856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개발</a:t>
            </a:r>
            <a:r>
              <a:rPr lang="en-US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  <a:cs typeface="Malgun Gothic" pitchFamily="34" charset="-120"/>
              </a:rPr>
              <a:t> 목표</a:t>
            </a:r>
            <a:endParaRPr lang="en-US"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40157" y="1887147"/>
            <a:ext cx="1644759" cy="272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ko-KR" altLang="en-US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/>
              </a:rPr>
              <a:t>진행사항</a:t>
            </a:r>
            <a:endParaRPr lang="en-US" b="1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8663" y="2249424"/>
            <a:ext cx="11662954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8279" y="2578608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사주 분석</a:t>
            </a:r>
          </a:p>
        </p:txBody>
      </p:sp>
      <p:sp>
        <p:nvSpPr>
          <p:cNvPr id="12" name="Text 10"/>
          <p:cNvSpPr/>
          <p:nvPr/>
        </p:nvSpPr>
        <p:spPr>
          <a:xfrm>
            <a:off x="2088170" y="2478024"/>
            <a:ext cx="477607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만세력</a:t>
            </a:r>
            <a:r>
              <a:rPr lang="en-US" altLang="ko-KR" sz="1600">
                <a:solidFill>
                  <a:srgbClr val="4B5563"/>
                </a:solidFill>
                <a:latin typeface="LG Smart_H2.0 R"/>
                <a:ea typeface="LG Smart_H2.0 R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로직에 의존한 정확한</a:t>
            </a:r>
            <a:r>
              <a:rPr lang="en-US" altLang="ko-KR" sz="1600">
                <a:solidFill>
                  <a:srgbClr val="4B5563"/>
                </a:solidFill>
                <a:latin typeface="LG Smart_H2.0 R"/>
                <a:ea typeface="LG Smart_H2.0 R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년주</a:t>
            </a:r>
            <a:r>
              <a:rPr lang="en-US" sz="1600">
                <a:solidFill>
                  <a:srgbClr val="4B5563"/>
                </a:solidFill>
                <a:latin typeface="LG Smart_H2.0 R"/>
                <a:ea typeface="LG Smart_H2.0 R"/>
              </a:rPr>
              <a:t>/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월주</a:t>
            </a:r>
            <a:r>
              <a:rPr lang="en-US" sz="1600">
                <a:solidFill>
                  <a:srgbClr val="4B5563"/>
                </a:solidFill>
                <a:latin typeface="LG Smart_H2.0 R"/>
                <a:ea typeface="LG Smart_H2.0 R"/>
              </a:rPr>
              <a:t>/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일주</a:t>
            </a:r>
            <a:r>
              <a:rPr lang="en-US" sz="1600">
                <a:solidFill>
                  <a:srgbClr val="4B5563"/>
                </a:solidFill>
                <a:latin typeface="LG Smart_H2.0 R"/>
                <a:ea typeface="LG Smart_H2.0 R"/>
              </a:rPr>
              <a:t>/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시주</a:t>
            </a:r>
            <a:r>
              <a:rPr lang="en-US" altLang="ko-KR" sz="1600">
                <a:solidFill>
                  <a:srgbClr val="4B5563"/>
                </a:solidFill>
                <a:latin typeface="LG Smart_H2.0 R"/>
                <a:ea typeface="LG Smart_H2.0 R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분석</a:t>
            </a:r>
            <a:endParaRPr lang="ko-KR">
              <a:solidFill>
                <a:srgbClr val="000000"/>
              </a:solidFill>
              <a:latin typeface="Malgun Gothic"/>
              <a:ea typeface="맑은 고딕" panose="020B0503020000020004" pitchFamily="34" charset="-127"/>
            </a:endParaRPr>
          </a:p>
          <a:p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LLM을 이용해 자연스러운 해석 제공</a:t>
            </a:r>
            <a:endParaRPr lang="ko-KR"/>
          </a:p>
        </p:txBody>
      </p:sp>
      <p:sp>
        <p:nvSpPr>
          <p:cNvPr id="13" name="Text 11"/>
          <p:cNvSpPr/>
          <p:nvPr/>
        </p:nvSpPr>
        <p:spPr>
          <a:xfrm>
            <a:off x="7142045" y="2432304"/>
            <a:ext cx="4550519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만세력 패키지를 이용해 정확한 데이터 추출</a:t>
            </a:r>
            <a:endParaRPr lang="en-US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LLM을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사용해 개인의 요구사항에 대한 조언</a:t>
            </a:r>
            <a:endParaRPr lang="ko-KR" altLang="en-US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8663" y="3127248"/>
            <a:ext cx="11662954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8279" y="3456432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관상 분석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88170" y="3355848"/>
            <a:ext cx="477607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카메라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 </a:t>
            </a:r>
            <a:r>
              <a:rPr lang="ko-KR" altLang="en-US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입력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 </a:t>
            </a:r>
            <a:r>
              <a:rPr lang="ko-KR" altLang="en-US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기반</a:t>
            </a:r>
            <a:r>
              <a:rPr lang="en-US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 </a:t>
            </a:r>
            <a:r>
              <a:rPr lang="ko-KR" altLang="en-US" sz="1600" err="1">
                <a:solidFill>
                  <a:srgbClr val="4B5563"/>
                </a:solidFill>
                <a:latin typeface="LG스마트체2.0 Regular"/>
                <a:ea typeface="LG Smart_H2.0 R"/>
              </a:rPr>
              <a:t>얼굴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 </a:t>
            </a:r>
            <a:r>
              <a:rPr lang="ko-KR" altLang="en-US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자동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 </a:t>
            </a:r>
            <a:r>
              <a:rPr lang="en-US" altLang="ko-KR" sz="1600" dirty="0" err="1">
                <a:solidFill>
                  <a:srgbClr val="4B5563"/>
                </a:solidFill>
                <a:latin typeface="LG스마트체2.0 Regular"/>
                <a:ea typeface="LG Smart_H2.0 R"/>
              </a:rPr>
              <a:t>인식</a:t>
            </a:r>
            <a:r>
              <a:rPr lang="ko-KR" altLang="en-US" sz="1600" dirty="0">
                <a:solidFill>
                  <a:srgbClr val="4B5563"/>
                </a:solidFill>
                <a:latin typeface="LG스마트체2.0 Regular"/>
                <a:ea typeface="LG Smart_H2.0 R"/>
              </a:rPr>
              <a:t> 및 처리</a:t>
            </a:r>
            <a:endParaRPr lang="en-US" sz="1600" dirty="0">
              <a:solidFill>
                <a:srgbClr val="000000"/>
              </a:solidFill>
              <a:latin typeface="LG스마트체2.0 Regular"/>
              <a:ea typeface="LG Smart_H2.0 R"/>
            </a:endParaRPr>
          </a:p>
          <a:p>
            <a:r>
              <a:rPr lang="en-US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AI</a:t>
            </a:r>
            <a:r>
              <a:rPr lang="ko-KR" altLang="en-US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를</a:t>
            </a:r>
            <a:r>
              <a:rPr lang="en-US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ko-KR" altLang="en-US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이용해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dirty="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얼굴의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dirty="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특징을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dirty="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기반으로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dirty="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해석</a:t>
            </a:r>
            <a:r>
              <a:rPr lang="en-US" altLang="ko-KR" sz="1600" dirty="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dirty="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제공</a:t>
            </a:r>
            <a:endParaRPr lang="en-US" altLang="ko-KR" sz="1600" err="1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42045" y="3349884"/>
            <a:ext cx="4861944" cy="43414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웹캠 스펙으로 얼굴 탐지 성능 확보</a:t>
            </a:r>
            <a:endParaRPr lang="ko-KR" altLang="en-US" sz="1600">
              <a:solidFill>
                <a:srgbClr val="4B5563"/>
              </a:solidFill>
              <a:latin typeface="LG스마트체2.0 Regular"/>
              <a:ea typeface="LG스마트체2.0 Regular" panose="020B0600000101010101" pitchFamily="50" charset="-127"/>
            </a:endParaRPr>
          </a:p>
          <a:p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랜드마크 기반 얼굴 특징 추출 완료</a:t>
            </a:r>
            <a:endParaRPr lang="ko-KR" altLang="en-US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8663" y="4005072"/>
            <a:ext cx="11662954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1022" y="4334256"/>
            <a:ext cx="1444316" cy="28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altLang="en-US" sz="14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궁합 분석</a:t>
            </a:r>
            <a:endParaRPr lang="en-US" sz="14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88170" y="4233672"/>
            <a:ext cx="477607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두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사람의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사주와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관상을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이용해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궁합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확인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/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얼굴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추천</a:t>
            </a:r>
          </a:p>
          <a:p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개인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레포트와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별도로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제공</a:t>
            </a:r>
            <a:endParaRPr lang="en-US" altLang="ko-KR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42045" y="4187952"/>
            <a:ext cx="4550519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개인의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사주와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관상을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기반으로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궁합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분석</a:t>
            </a:r>
            <a:endParaRPr lang="en-US" altLang="ko-KR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  <a:p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1인일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경우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나와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궁합이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잘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맞는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얼굴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추천 제공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예정</a:t>
            </a:r>
            <a:endParaRPr lang="en-US" altLang="ko-KR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8663" y="4882896"/>
            <a:ext cx="11662954" cy="877824"/>
          </a:xfrm>
          <a:prstGeom prst="rect">
            <a:avLst/>
          </a:prstGeom>
          <a:solidFill>
            <a:srgbClr val="FFFFFF"/>
          </a:solidFill>
          <a:ln w="6985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8279" y="5212080"/>
            <a:ext cx="1161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온</a:t>
            </a:r>
            <a:r>
              <a:rPr lang="en-US" alt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-</a:t>
            </a:r>
            <a:r>
              <a:rPr 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디바이스</a:t>
            </a:r>
            <a:r>
              <a:rPr lang="en-US" altLang="ko-KR" sz="1400" b="1">
                <a:solidFill>
                  <a:srgbClr val="16171A"/>
                </a:solidFill>
                <a:latin typeface="LG Smart_H2.0 R"/>
                <a:ea typeface="LG Smart_H2.0 R"/>
              </a:rPr>
              <a:t> AI</a:t>
            </a:r>
            <a:endParaRPr lang="ko-KR"/>
          </a:p>
        </p:txBody>
      </p:sp>
      <p:sp>
        <p:nvSpPr>
          <p:cNvPr id="30" name="Text 28"/>
          <p:cNvSpPr/>
          <p:nvPr/>
        </p:nvSpPr>
        <p:spPr>
          <a:xfrm>
            <a:off x="2088170" y="5111496"/>
            <a:ext cx="477607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라즈베리파이 기반의 로컬 AI 구현 및 사용</a:t>
            </a:r>
            <a:endParaRPr lang="en-US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42045" y="5065776"/>
            <a:ext cx="4550519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1600">
                <a:solidFill>
                  <a:srgbClr val="4B5563"/>
                </a:solidFill>
                <a:latin typeface="LG Smart_H2.0 R"/>
                <a:ea typeface="LG Smart_H2.0 R"/>
                <a:cs typeface="Malgun Gothic" pitchFamily="34" charset="-120"/>
              </a:rPr>
              <a:t>llama.cpp</a:t>
            </a:r>
            <a:r>
              <a:rPr lang="en-US" altLang="ko-KR" sz="1600">
                <a:solidFill>
                  <a:srgbClr val="4B5563"/>
                </a:solidFill>
                <a:latin typeface="LG Smart_H2.0 R"/>
                <a:ea typeface="LG Smart_H2.0 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  <a:cs typeface="Malgun Gothic" pitchFamily="34" charset="-120"/>
              </a:rPr>
              <a:t>기반</a:t>
            </a:r>
            <a:r>
              <a:rPr lang="en-US" sz="1600">
                <a:solidFill>
                  <a:srgbClr val="4B5563"/>
                </a:solidFill>
                <a:latin typeface="LG Smart_H2.0 R"/>
                <a:ea typeface="LG Smart_H2.0 R"/>
                <a:cs typeface="Malgun Gothic" pitchFamily="34" charset="-120"/>
              </a:rPr>
              <a:t> API</a:t>
            </a:r>
            <a:r>
              <a:rPr lang="en-US" altLang="ko-KR" sz="1600">
                <a:solidFill>
                  <a:srgbClr val="4B5563"/>
                </a:solidFill>
                <a:latin typeface="LG Smart_H2.0 R"/>
                <a:ea typeface="LG Smart_H2.0 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  <a:cs typeface="Malgun Gothic" pitchFamily="34" charset="-120"/>
              </a:rPr>
              <a:t>구현</a:t>
            </a:r>
            <a:endParaRPr lang="en-US" sz="1600">
              <a:solidFill>
                <a:srgbClr val="4B5563"/>
              </a:solidFill>
              <a:latin typeface="LG Smart_H2.0 R"/>
              <a:ea typeface="LG Smart_H2.0 R"/>
            </a:endParaRPr>
          </a:p>
          <a:p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온</a:t>
            </a:r>
            <a:r>
              <a:rPr lang="en-US" altLang="ko-KR" sz="1600">
                <a:solidFill>
                  <a:srgbClr val="4B5563"/>
                </a:solidFill>
                <a:latin typeface="LG Smart_H2.0 R"/>
                <a:ea typeface="LG Smart_H2.0 R"/>
              </a:rPr>
              <a:t>-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디바이스 AI</a:t>
            </a:r>
            <a:r>
              <a:rPr lang="en-US" altLang="ko-KR" sz="1600">
                <a:solidFill>
                  <a:srgbClr val="4B5563"/>
                </a:solidFill>
                <a:latin typeface="LG Smart_H2.0 R"/>
                <a:ea typeface="LG Smart_H2.0 R"/>
              </a:rPr>
              <a:t> </a:t>
            </a:r>
            <a:r>
              <a:rPr lang="ko-KR" altLang="en-US" sz="1600">
                <a:solidFill>
                  <a:srgbClr val="4B5563"/>
                </a:solidFill>
                <a:latin typeface="LG Smart_H2.0 R"/>
                <a:ea typeface="LG Smart_H2.0 R"/>
              </a:rPr>
              <a:t>경량 및 가속화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56630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747486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03. </a:t>
            </a:r>
            <a:r>
              <a:rPr lang="en-US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핵심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기술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-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사주</a:t>
            </a:r>
            <a:r>
              <a:rPr lang="en-US" altLang="ko-KR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/ </a:t>
            </a:r>
            <a:r>
              <a:rPr lang="en-US" altLang="ko-KR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관상</a:t>
            </a:r>
            <a:r>
              <a:rPr lang="en-US" altLang="ko-KR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AI 분석</a:t>
            </a:r>
            <a:endParaRPr lang="ko-KR" altLang="en-US" sz="2500" b="1">
              <a:solidFill>
                <a:srgbClr val="16171A"/>
              </a:solidFill>
              <a:latin typeface="LG스마트체2.0 Regular"/>
              <a:ea typeface="LG스마트체2.0 Regular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8620" y="1614229"/>
            <a:ext cx="5109122" cy="4651361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35891" y="1854491"/>
            <a:ext cx="405079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AI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를</a:t>
            </a:r>
            <a:r>
              <a:rPr 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이용한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사주 / 관상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분석</a:t>
            </a:r>
            <a:endParaRPr lang="ko-KR" altLang="en-US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5851" y="2302547"/>
            <a:ext cx="4343400" cy="0"/>
          </a:xfrm>
          <a:prstGeom prst="line">
            <a:avLst/>
          </a:prstGeom>
          <a:noFill/>
          <a:ln w="10160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8717" y="2503715"/>
            <a:ext cx="4872010" cy="280183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개인 정보를 그대로 LLM input으로 넣으면 </a:t>
            </a:r>
            <a:r>
              <a:rPr lang="ko-KR" altLang="en-US" b="1">
                <a:solidFill>
                  <a:srgbClr val="FF0000"/>
                </a:solidFill>
                <a:latin typeface="LG스마트체2.0 Regular"/>
                <a:ea typeface="LG스마트체2.0 Regular"/>
                <a:cs typeface="Segoe UI"/>
              </a:rPr>
              <a:t>hallucination이 발생</a:t>
            </a:r>
            <a:r>
              <a:rPr lang="ko-KR" altLang="en-US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할 여지가 많이 존재.</a:t>
            </a:r>
            <a:endParaRPr lang="en-US" altLang="ko-KR">
              <a:solidFill>
                <a:srgbClr val="4B5563"/>
              </a:solidFill>
              <a:latin typeface="Malgun Gothic"/>
              <a:ea typeface="LG스마트체2.0 Regular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</a:t>
            </a:r>
            <a:r>
              <a:rPr lang="ko-KR" altLang="en-US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만세력을 직접 계산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하는 로직을 사용해 최대한</a:t>
            </a:r>
            <a:endParaRPr lang="en-US" altLang="ko-KR" sz="1600">
              <a:solidFill>
                <a:srgbClr val="4B5563"/>
              </a:solidFill>
              <a:latin typeface="Malgun Gothic"/>
              <a:ea typeface="LG스마트체2.0 Regular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   정확한 정보 전달</a:t>
            </a:r>
            <a:endParaRPr lang="en-US" altLang="ko-KR" sz="1600">
              <a:solidFill>
                <a:srgbClr val="4B5563"/>
              </a:solidFill>
              <a:ea typeface="LG스마트체2.0 Regular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만세력 데이터를 세부적으로 해석하는 과정에서 정해진</a:t>
            </a:r>
            <a:r>
              <a:rPr lang="ko-KR" altLang="en-US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 데이터</a:t>
            </a:r>
            <a:r>
              <a:rPr lang="ko-KR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접근만으로는 </a:t>
            </a:r>
            <a:r>
              <a:rPr lang="ko-KR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자연스럽고 설득력 있는 사주 해석</a:t>
            </a:r>
            <a:r>
              <a:rPr lang="ko-KR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불가능</a:t>
            </a:r>
            <a:endParaRPr lang="ko-KR" altLang="en-US">
              <a:solidFill>
                <a:srgbClr val="4B5563"/>
              </a:solidFill>
              <a:ea typeface="LG스마트체2.0 Regular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최근 주목받고 있는</a:t>
            </a:r>
            <a:r>
              <a:rPr 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</a:t>
            </a:r>
            <a:r>
              <a:rPr lang="en-US" alt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Gemma</a:t>
            </a:r>
            <a:r>
              <a:rPr 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</a:t>
            </a:r>
            <a:r>
              <a:rPr lang="en-US" alt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4</a:t>
            </a:r>
            <a:r>
              <a:rPr 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모델을 활용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하여</a:t>
            </a:r>
            <a:endParaRPr lang="en-US" altLang="ko-KR" sz="1600">
              <a:solidFill>
                <a:srgbClr val="000000"/>
              </a:solidFill>
              <a:latin typeface="Malgun Gothic"/>
              <a:ea typeface="Malgun Gothic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   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보다 자연스러운 사주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·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관상 분석과 해설을 제공</a:t>
            </a:r>
            <a:endParaRPr lang="en-US" sz="1600">
              <a:ea typeface="Malgun Gothic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>
              <a:solidFill>
                <a:srgbClr val="4B5563"/>
              </a:solidFill>
              <a:latin typeface="LG스마트체2.0 Regular"/>
              <a:ea typeface="LG스마트체2.0 Regular"/>
              <a:cs typeface="Segoe U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28371" y="1615491"/>
            <a:ext cx="5429793" cy="4657987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9016" y="1869005"/>
            <a:ext cx="4370832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altLang="ko-KR" b="1" err="1">
                <a:solidFill>
                  <a:srgbClr val="16171A"/>
                </a:solidFill>
                <a:latin typeface="LG스마트체2.0 Regular"/>
                <a:ea typeface="LG스마트체2.0 Regular"/>
              </a:rPr>
              <a:t>사용자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b="1" err="1">
                <a:solidFill>
                  <a:srgbClr val="16171A"/>
                </a:solidFill>
                <a:latin typeface="LG스마트체2.0 Regular"/>
                <a:ea typeface="LG스마트체2.0 Regular"/>
              </a:rPr>
              <a:t>친화적</a:t>
            </a:r>
            <a:r>
              <a:rPr lang="en-US" altLang="ko-KR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 UI </a:t>
            </a:r>
            <a:r>
              <a:rPr lang="en-US" altLang="ko-KR" b="1" err="1">
                <a:solidFill>
                  <a:srgbClr val="16171A"/>
                </a:solidFill>
                <a:latin typeface="LG스마트체2.0 Regular"/>
                <a:ea typeface="LG스마트체2.0 Regular"/>
              </a:rPr>
              <a:t>제공</a:t>
            </a:r>
            <a:endParaRPr lang="en-US" altLang="ko-KR" b="1" err="1">
              <a:solidFill>
                <a:srgbClr val="16171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38976" y="2317061"/>
            <a:ext cx="4663440" cy="0"/>
          </a:xfrm>
          <a:prstGeom prst="line">
            <a:avLst/>
          </a:prstGeom>
          <a:noFill/>
          <a:ln w="10160">
            <a:solidFill>
              <a:srgbClr val="E7E8EC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21842" y="2518229"/>
            <a:ext cx="5192050" cy="278006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사주에는 일반인이</a:t>
            </a:r>
            <a:r>
              <a:rPr lang="ko-KR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직관적으로 이해하기 어려운 정보와 해석 요소</a:t>
            </a:r>
            <a:r>
              <a:rPr lang="ko-KR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가 다수 포함됨</a:t>
            </a:r>
            <a:endParaRPr lang="ko-KR"/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</a:t>
            </a:r>
            <a:r>
              <a:rPr lang="ko-KR" altLang="en-US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간결하고 직관적인 </a:t>
            </a:r>
            <a:r>
              <a:rPr lang="en-US" alt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UI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를 통해 사용자가 사주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·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관상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해</a:t>
            </a:r>
            <a:endParaRPr lang="en-US" altLang="ko-KR" sz="1600">
              <a:solidFill>
                <a:srgbClr val="000000"/>
              </a:solidFill>
              <a:latin typeface="Malgun Gothic"/>
              <a:ea typeface="Malgun Gothic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   설을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 쉽게 확인할 수 있도록 구성</a:t>
            </a:r>
            <a:endParaRPr lang="en-US" sz="1600">
              <a:ea typeface="Malgun Gothic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  → 사주 해석에 필요한 주요 데이터를 </a:t>
            </a:r>
            <a:r>
              <a:rPr lang="ko-KR" altLang="en-US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시각적으로 </a:t>
            </a:r>
            <a:r>
              <a:rPr lang="ko-KR" sz="1600" b="1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강조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하</a:t>
            </a:r>
            <a:endParaRPr lang="ko-KR" sz="1600">
              <a:solidFill>
                <a:srgbClr val="000000"/>
              </a:solidFill>
              <a:latin typeface="Malgun Gothic"/>
              <a:ea typeface="맑은 고딕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  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 </a:t>
            </a:r>
            <a:r>
              <a:rPr lang="ko-KR" sz="1600">
                <a:solidFill>
                  <a:srgbClr val="4B5563"/>
                </a:solidFill>
                <a:latin typeface="LG스마트체2.0 Regular"/>
                <a:ea typeface="LG스마트체2.0 Regular"/>
                <a:cs typeface="Segoe UI"/>
              </a:rPr>
              <a:t>여 이해도를 향상</a:t>
            </a:r>
            <a:endParaRPr lang="ko-KR" sz="1600">
              <a:ea typeface="맑은 고딕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ko-KR">
              <a:solidFill>
                <a:srgbClr val="4B5563"/>
              </a:solidFill>
              <a:latin typeface="LG스마트체2.0 Regular"/>
              <a:ea typeface="LG스마트체2.0 Regular"/>
              <a:cs typeface="Segoe U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77E2EA-E4C4-5FA0-26F1-6E865CFFB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01" y="1825540"/>
            <a:ext cx="2381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E19AB4-6060-12BA-09FE-0629AAF64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8976" y="1847215"/>
            <a:ext cx="2667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27601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718457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03. </a:t>
            </a:r>
            <a:r>
              <a:rPr lang="en-US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핵심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2500" b="1" err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기술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-</a:t>
            </a:r>
            <a:r>
              <a:rPr lang="en-US" altLang="ko-KR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온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-</a:t>
            </a:r>
            <a:r>
              <a:rPr lang="ko-KR" alt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디바이스</a:t>
            </a:r>
            <a:r>
              <a:rPr lang="en-US" sz="25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AI</a:t>
            </a:r>
            <a:endParaRPr lang="ko-KR" altLang="en-US" sz="25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2823" y="1431835"/>
            <a:ext cx="6078873" cy="123458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E7E8E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1519501"/>
            <a:ext cx="41148" cy="9576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29229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llama.cpp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기반</a:t>
            </a: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로컬</a:t>
            </a: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추론</a:t>
            </a:r>
            <a:r>
              <a:rPr lang="en-US" sz="20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en-US" sz="20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프레임워크</a:t>
            </a:r>
            <a:endParaRPr 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006020"/>
            <a:ext cx="5596128" cy="467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경량화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양자화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모델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(GGUF)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모델 사용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,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라즈베리파이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제한된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자원을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고려해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양자화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 /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컨텍스트 </a:t>
            </a:r>
            <a:r>
              <a:rPr lang="ko-KR" alt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캐싱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/ MTP 등 여러 기법 적용</a:t>
            </a:r>
            <a:endParaRPr lang="en-US" sz="1600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2823" y="2860621"/>
            <a:ext cx="6078873" cy="122007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E7E8E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" y="2941030"/>
            <a:ext cx="41148" cy="972166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050758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JSON-Strict </a:t>
            </a:r>
            <a:r>
              <a:rPr lang="ko-KR" altLang="en-US" sz="20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프롬프팅</a:t>
            </a:r>
            <a:endParaRPr lang="en-US" sz="20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3427549"/>
            <a:ext cx="5596128" cy="4743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출력은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정해진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 JSON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스키마에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맞게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제한하고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파서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복원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장치로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리포트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구조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안정성을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확보하여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무효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응답을</a:t>
            </a:r>
            <a:r>
              <a:rPr lang="en-US" sz="1600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 </a:t>
            </a:r>
            <a:r>
              <a:rPr lang="en-US" sz="1600" err="1">
                <a:solidFill>
                  <a:srgbClr val="4B5563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최소화</a:t>
            </a:r>
            <a:endParaRPr lang="en-US" sz="1600" err="1">
              <a:solidFill>
                <a:srgbClr val="4B5563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7337" y="4260378"/>
            <a:ext cx="6078873" cy="1183785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E7E8E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72882" y="4297245"/>
            <a:ext cx="41148" cy="986681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8914" y="4406973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6171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캐시 최적화 프롬프팅</a:t>
            </a:r>
            <a:endParaRPr lang="en-US" sz="2000" b="1">
              <a:solidFill>
                <a:srgbClr val="16171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8914" y="4791021"/>
            <a:ext cx="5596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AI 모델이 효율적으로 KV캐시를 사용할 수 있도록 프롬프트 구성을 수정</a:t>
            </a:r>
            <a:endParaRPr lang="ko-KR" altLang="en-US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12573" y="1948688"/>
            <a:ext cx="5163313" cy="4105366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4100" name="Picture 4" descr="What Are Small Language Models (SLMs)? Key Differences, Real-World Examples  &amp; Training Data | Shaip">
            <a:extLst>
              <a:ext uri="{FF2B5EF4-FFF2-40B4-BE49-F238E27FC236}">
                <a16:creationId xmlns:a16="http://schemas.microsoft.com/office/drawing/2014/main" id="{F89BB2B3-667E-5618-FEB0-68FEE3860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11407" y="2427538"/>
            <a:ext cx="4856790" cy="2857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2">
            <a:extLst>
              <a:ext uri="{FF2B5EF4-FFF2-40B4-BE49-F238E27FC236}">
                <a16:creationId xmlns:a16="http://schemas.microsoft.com/office/drawing/2014/main" id="{E913A379-B0A2-F1E0-EA4F-9A81130D6340}"/>
              </a:ext>
            </a:extLst>
          </p:cNvPr>
          <p:cNvSpPr/>
          <p:nvPr/>
        </p:nvSpPr>
        <p:spPr>
          <a:xfrm>
            <a:off x="647336" y="5581177"/>
            <a:ext cx="6078873" cy="1183785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E7E8EC">
                <a:alpha val="80000"/>
              </a:srgbClr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Shape 13">
            <a:extLst>
              <a:ext uri="{FF2B5EF4-FFF2-40B4-BE49-F238E27FC236}">
                <a16:creationId xmlns:a16="http://schemas.microsoft.com/office/drawing/2014/main" id="{6A566780-8AF3-95D3-DC42-F4D64C31C0DC}"/>
              </a:ext>
            </a:extLst>
          </p:cNvPr>
          <p:cNvSpPr/>
          <p:nvPr/>
        </p:nvSpPr>
        <p:spPr>
          <a:xfrm>
            <a:off x="672881" y="5618044"/>
            <a:ext cx="41148" cy="986681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C5187F00-AEA8-9704-235A-D38E2232B12F}"/>
              </a:ext>
            </a:extLst>
          </p:cNvPr>
          <p:cNvSpPr/>
          <p:nvPr/>
        </p:nvSpPr>
        <p:spPr>
          <a:xfrm>
            <a:off x="928913" y="5727772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2000" b="1">
                <a:solidFill>
                  <a:srgbClr val="16171A"/>
                </a:solidFill>
                <a:latin typeface="LG스마트체2.0 Regular"/>
                <a:ea typeface="LG스마트체2.0 Regular"/>
              </a:rPr>
              <a:t>분산 최적화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666AC27-0AFF-9BBD-F1A5-EB18D6F60E0A}"/>
              </a:ext>
            </a:extLst>
          </p:cNvPr>
          <p:cNvSpPr/>
          <p:nvPr/>
        </p:nvSpPr>
        <p:spPr>
          <a:xfrm>
            <a:off x="928913" y="6111820"/>
            <a:ext cx="5596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lnSpc>
                <a:spcPct val="112000"/>
              </a:lnSpc>
            </a:pPr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너무 긴 프롬프트는 분리해 추가 디바이스를 이용</a:t>
            </a:r>
            <a:endParaRPr lang="ko-KR" altLang="en-US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6344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04. </a:t>
            </a:r>
            <a:r>
              <a:rPr lang="ko-KR" altLang="en-US" sz="25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기대 효과</a:t>
            </a:r>
            <a:endParaRPr lang="en-US" altLang="ko-KR" sz="2500" b="1">
              <a:solidFill>
                <a:srgbClr val="16171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1584" y="1855506"/>
            <a:ext cx="3401568" cy="3339011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4081" y="2985589"/>
            <a:ext cx="3342059" cy="8059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algn="ctr"/>
            <a:r>
              <a:rPr lang="en-US" sz="24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프라이버시</a:t>
            </a:r>
            <a:r>
              <a:rPr lang="en-US" sz="24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ko-KR" altLang="en-US" sz="24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보호</a:t>
            </a:r>
            <a:endParaRPr lang="ko-KR" altLang="en-US" sz="2400" b="1">
              <a:solidFill>
                <a:srgbClr val="16171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3578" y="3834384"/>
            <a:ext cx="3057579" cy="12671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개인정보 및 얼굴 데이터를 외부로 전송하지 않고 기기 내에서 처리하여 개인정보 침해 </a:t>
            </a:r>
            <a:r>
              <a:rPr 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위험을 최소화</a:t>
            </a:r>
            <a:endParaRPr lang="ko-KR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95216" y="1855506"/>
            <a:ext cx="3401568" cy="3339011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17713" y="2985589"/>
            <a:ext cx="3342059" cy="8059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algn="ctr"/>
            <a:r>
              <a:rPr lang="en-US" altLang="ko-KR" sz="24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</a:t>
            </a:r>
            <a:r>
              <a:rPr lang="en-US" altLang="ko-KR" sz="24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비용 감소</a:t>
            </a:r>
            <a:endParaRPr lang="en-US" altLang="ko-KR" sz="2400" b="1" err="1">
              <a:solidFill>
                <a:srgbClr val="16171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67210" y="3834384"/>
            <a:ext cx="3057579" cy="12671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상용 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API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의존도를 낮춰 호출 비용을 </a:t>
            </a:r>
            <a:r>
              <a:rPr 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절감하고,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지속 가능한 </a:t>
            </a:r>
            <a:r>
              <a:rPr 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서비스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운영 기반을 확보</a:t>
            </a:r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08848" y="1855506"/>
            <a:ext cx="3401568" cy="3339011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7620">
            <a:solidFill>
              <a:srgbClr val="E7E8EC"/>
            </a:solidFill>
            <a:prstDash val="solid"/>
          </a:ln>
          <a:effectLst>
            <a:outerShdw blurRad="12700" dist="50800" dir="2700000" algn="bl" rotWithShape="0">
              <a:srgbClr val="C8CBD2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8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31345" y="2985589"/>
            <a:ext cx="3342059" cy="80597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err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독보적인</a:t>
            </a:r>
            <a:r>
              <a:rPr lang="en-US" sz="24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 </a:t>
            </a:r>
            <a:r>
              <a:rPr lang="ko-KR" altLang="en-US" sz="2400" b="1">
                <a:solidFill>
                  <a:srgbClr val="16171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Malgun Gothic" pitchFamily="34" charset="-120"/>
              </a:rPr>
              <a:t>몰입감</a:t>
            </a:r>
            <a:endParaRPr lang="en-US" sz="24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80842" y="3834384"/>
            <a:ext cx="3057579" cy="126713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사주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·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관상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·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궁합을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통합한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차별화된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콘텐츠와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사용자</a:t>
            </a:r>
            <a:r>
              <a:rPr 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친화적</a:t>
            </a:r>
            <a:r>
              <a:rPr 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리포트를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제공하여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높은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몰입감과</a:t>
            </a:r>
            <a:r>
              <a:rPr lang="en-US" altLang="ko-KR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ko-KR" alt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재미를</a:t>
            </a:r>
            <a:r>
              <a:rPr lang="en-US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 </a:t>
            </a:r>
            <a:r>
              <a:rPr lang="en-US" err="1">
                <a:solidFill>
                  <a:srgbClr val="4B5563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+mn-lt"/>
              </a:rPr>
              <a:t>제공</a:t>
            </a:r>
            <a:endParaRPr lang="ko-KR" altLang="en-US" err="1">
              <a:latin typeface="LG스마트체2.0 Regular" panose="020B0600000101010101" pitchFamily="50" charset="-127"/>
              <a:ea typeface="LG스마트체2.0 Regular" panose="020B0600000101010101" pitchFamily="50" charset="-127"/>
              <a:cs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044B81-2D92-54A6-7B72-99F6F2542DEB}"/>
              </a:ext>
            </a:extLst>
          </p:cNvPr>
          <p:cNvSpPr txBox="1"/>
          <p:nvPr/>
        </p:nvSpPr>
        <p:spPr>
          <a:xfrm>
            <a:off x="3048000" y="31450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 </a:t>
            </a:r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C0BDA5F-0BAF-55B8-CCA3-309981B571F6}"/>
              </a:ext>
            </a:extLst>
          </p:cNvPr>
          <p:cNvGrpSpPr/>
          <p:nvPr/>
        </p:nvGrpSpPr>
        <p:grpSpPr>
          <a:xfrm>
            <a:off x="1761904" y="1997527"/>
            <a:ext cx="898977" cy="915760"/>
            <a:chOff x="1848993" y="1748599"/>
            <a:chExt cx="666750" cy="676275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B020532E-9FEA-19A8-29FA-B48F27283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9493" y="1939100"/>
              <a:ext cx="285750" cy="295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0" name="Picture 8">
              <a:extLst>
                <a:ext uri="{FF2B5EF4-FFF2-40B4-BE49-F238E27FC236}">
                  <a16:creationId xmlns:a16="http://schemas.microsoft.com/office/drawing/2014/main" id="{8384F238-A259-E5CF-6E44-5AD8C69884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993" y="1748599"/>
              <a:ext cx="666750" cy="67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61308F1-375C-4DA5-378C-2026177891C1}"/>
              </a:ext>
            </a:extLst>
          </p:cNvPr>
          <p:cNvGrpSpPr/>
          <p:nvPr/>
        </p:nvGrpSpPr>
        <p:grpSpPr>
          <a:xfrm>
            <a:off x="5675531" y="1997527"/>
            <a:ext cx="898977" cy="915760"/>
            <a:chOff x="5619750" y="1766887"/>
            <a:chExt cx="666750" cy="676275"/>
          </a:xfrm>
        </p:grpSpPr>
        <p:pic>
          <p:nvPicPr>
            <p:cNvPr id="3082" name="Picture 10">
              <a:extLst>
                <a:ext uri="{FF2B5EF4-FFF2-40B4-BE49-F238E27FC236}">
                  <a16:creationId xmlns:a16="http://schemas.microsoft.com/office/drawing/2014/main" id="{AAD4474A-BC9B-654F-B6A0-ADF77382C6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0250" y="1957388"/>
              <a:ext cx="285750" cy="295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4" name="Picture 12">
              <a:extLst>
                <a:ext uri="{FF2B5EF4-FFF2-40B4-BE49-F238E27FC236}">
                  <a16:creationId xmlns:a16="http://schemas.microsoft.com/office/drawing/2014/main" id="{E6187E88-1C47-5889-F110-EE1F0AC2BC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9750" y="1766887"/>
              <a:ext cx="666750" cy="67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A2BCA0B-8C37-8B77-CF90-BC6AA31C7818}"/>
              </a:ext>
            </a:extLst>
          </p:cNvPr>
          <p:cNvGrpSpPr/>
          <p:nvPr/>
        </p:nvGrpSpPr>
        <p:grpSpPr>
          <a:xfrm>
            <a:off x="9589185" y="1997526"/>
            <a:ext cx="898979" cy="915760"/>
            <a:chOff x="8991023" y="1476301"/>
            <a:chExt cx="666750" cy="676275"/>
          </a:xfrm>
        </p:grpSpPr>
        <p:pic>
          <p:nvPicPr>
            <p:cNvPr id="3086" name="Picture 14">
              <a:extLst>
                <a:ext uri="{FF2B5EF4-FFF2-40B4-BE49-F238E27FC236}">
                  <a16:creationId xmlns:a16="http://schemas.microsoft.com/office/drawing/2014/main" id="{08689702-3ABB-F05F-9B26-58CB128E55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2473" y="1666802"/>
              <a:ext cx="323850" cy="295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8" name="Picture 16">
              <a:extLst>
                <a:ext uri="{FF2B5EF4-FFF2-40B4-BE49-F238E27FC236}">
                  <a16:creationId xmlns:a16="http://schemas.microsoft.com/office/drawing/2014/main" id="{E262CB60-E7DA-075B-8A1D-A393F25A18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1023" y="1476301"/>
              <a:ext cx="666750" cy="67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66344"/>
            <a:ext cx="54864" cy="530352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9808" y="457200"/>
            <a:ext cx="81381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r>
              <a:rPr 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04. </a:t>
            </a:r>
            <a:r>
              <a:rPr lang="ko-KR" altLang="en-US" sz="2500" b="1">
                <a:solidFill>
                  <a:srgbClr val="16171A"/>
                </a:solidFill>
                <a:latin typeface="LG Smart_H2.0 R"/>
                <a:ea typeface="LG Smart_H2.0 R"/>
                <a:cs typeface="Malgun Gothic" pitchFamily="34" charset="-120"/>
              </a:rPr>
              <a:t>향후 계획</a:t>
            </a: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49808" y="3675521"/>
            <a:ext cx="10652760" cy="0"/>
          </a:xfrm>
          <a:prstGeom prst="line">
            <a:avLst/>
          </a:prstGeom>
          <a:noFill/>
          <a:ln w="12700">
            <a:solidFill>
              <a:srgbClr val="E7B0C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89902" y="3584678"/>
            <a:ext cx="182880" cy="181686"/>
          </a:xfrm>
          <a:prstGeom prst="ellipse">
            <a:avLst/>
          </a:prstGeom>
          <a:solidFill>
            <a:srgbClr val="FFFFFF"/>
          </a:solidFill>
          <a:ln w="2667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5721" y="3904121"/>
            <a:ext cx="1926335" cy="441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altLang="ko-KR" sz="20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궁합</a:t>
            </a:r>
            <a:r>
              <a:rPr lang="en-US" altLang="ko-KR" sz="20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20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추천</a:t>
            </a:r>
            <a:r>
              <a:rPr lang="en-US" altLang="ko-KR" sz="20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2000" b="1" err="1">
                <a:solidFill>
                  <a:srgbClr val="B0003A"/>
                </a:solidFill>
                <a:latin typeface="LG스마트체2.0 Regular"/>
                <a:ea typeface="LG스마트체2.0 Regular"/>
              </a:rPr>
              <a:t>시스템</a:t>
            </a:r>
            <a:endParaRPr lang="en-US" altLang="ko-KR" sz="2000" b="1">
              <a:solidFill>
                <a:srgbClr val="B0003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5464" y="4361465"/>
            <a:ext cx="2445078" cy="6209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ko-KR" altLang="en-US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내 관상을 기준으로 가장 궁합이 잘 맞는 얼굴을 추천</a:t>
            </a:r>
            <a:endParaRPr lang="ko-KR" altLang="en-US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42816" y="3584678"/>
            <a:ext cx="182880" cy="181686"/>
          </a:xfrm>
          <a:prstGeom prst="ellipse">
            <a:avLst/>
          </a:prstGeom>
          <a:solidFill>
            <a:srgbClr val="FFFFFF"/>
          </a:solidFill>
          <a:ln w="2667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63462" y="2301823"/>
            <a:ext cx="1962621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ko-KR" altLang="en-US" sz="20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최종 레포트 출력</a:t>
            </a:r>
            <a:endParaRPr lang="ko-KR" altLang="en-US" sz="2000" b="1">
              <a:solidFill>
                <a:srgbClr val="B0003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44006" y="2670193"/>
            <a:ext cx="2387019" cy="918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사주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/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관상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/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궁합을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사용자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친화적인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UI로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통합해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최종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레포트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제공</a:t>
            </a:r>
            <a:endParaRPr lang="en-US" altLang="ko-KR" sz="1600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86016" y="3584678"/>
            <a:ext cx="182880" cy="181686"/>
          </a:xfrm>
          <a:prstGeom prst="ellipse">
            <a:avLst/>
          </a:prstGeom>
          <a:solidFill>
            <a:srgbClr val="FFFFFF"/>
          </a:solidFill>
          <a:ln w="2667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40406" y="3904121"/>
            <a:ext cx="2303706" cy="455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ko-KR" altLang="en-US" sz="2000" b="1">
                <a:solidFill>
                  <a:srgbClr val="B0003A"/>
                </a:solidFill>
                <a:latin typeface="LG스마트체2.0 Regular"/>
                <a:ea typeface="LG스마트체2.0 Regular"/>
                <a:cs typeface="Malgun Gothic" pitchFamily="34" charset="-120"/>
              </a:rPr>
              <a:t>멀티 디바이스 최적화</a:t>
            </a:r>
            <a:endParaRPr lang="en-US" sz="2000" b="1">
              <a:solidFill>
                <a:srgbClr val="B0003A"/>
              </a:solidFill>
              <a:latin typeface="LG스마트체2.0 Regular"/>
              <a:ea typeface="LG스마트체2.0 Regular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829807" y="4361465"/>
            <a:ext cx="2488619" cy="9184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여러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디바이스에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효율적으로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프롬프트를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분배하여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빠르게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결과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출력</a:t>
            </a:r>
            <a:endParaRPr lang="en-US" altLang="ko-KR" sz="1600" err="1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729216" y="3584678"/>
            <a:ext cx="182880" cy="181686"/>
          </a:xfrm>
          <a:prstGeom prst="ellipse">
            <a:avLst/>
          </a:prstGeom>
          <a:solidFill>
            <a:srgbClr val="FFFFFF"/>
          </a:solidFill>
          <a:ln w="2667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84257" y="2301824"/>
            <a:ext cx="2093250" cy="375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ko-KR" altLang="en-US" sz="2000" b="1">
                <a:solidFill>
                  <a:srgbClr val="B0003A"/>
                </a:solidFill>
                <a:latin typeface="LG스마트체2.0 Regular"/>
                <a:ea typeface="LG스마트체2.0 Regular"/>
              </a:rPr>
              <a:t>시스템 완성</a:t>
            </a:r>
            <a:endParaRPr lang="ko-KR" altLang="en-US" sz="2000" b="1">
              <a:solidFill>
                <a:srgbClr val="B0003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22858" y="2670193"/>
            <a:ext cx="2387019" cy="72977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최종적으로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시스템을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구축해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테스트</a:t>
            </a:r>
            <a:r>
              <a:rPr lang="en-US" altLang="ko-KR" sz="1600">
                <a:solidFill>
                  <a:srgbClr val="4B5563"/>
                </a:solidFill>
                <a:latin typeface="LG스마트체2.0 Regular"/>
                <a:ea typeface="LG스마트체2.0 Regular"/>
              </a:rPr>
              <a:t> 및 </a:t>
            </a:r>
            <a:r>
              <a:rPr lang="en-US" altLang="ko-KR" sz="1600" err="1">
                <a:solidFill>
                  <a:srgbClr val="4B5563"/>
                </a:solidFill>
                <a:latin typeface="LG스마트체2.0 Regular"/>
                <a:ea typeface="LG스마트체2.0 Regular"/>
              </a:rPr>
              <a:t>검증</a:t>
            </a:r>
            <a:endParaRPr lang="en-US" altLang="ko-KR" sz="1600" err="1">
              <a:solidFill>
                <a:srgbClr val="4B5563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00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4599" y="2607927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-120"/>
              </a:rPr>
              <a:t>THANK YOU</a:t>
            </a:r>
            <a:endParaRPr lang="en-US" sz="360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04599" y="3302871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  <a:cs typeface="Arial" pitchFamily="34" charset="-120"/>
              </a:rPr>
              <a:t>QUESTIONS &amp; ANSWERS</a:t>
            </a:r>
            <a:endParaRPr lang="en-US" sz="230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5550408"/>
            <a:ext cx="41148" cy="694944"/>
          </a:xfrm>
          <a:prstGeom prst="rect">
            <a:avLst/>
          </a:prstGeom>
          <a:solidFill>
            <a:srgbClr val="B0003A"/>
          </a:solidFill>
          <a:ln w="12700">
            <a:solidFill>
              <a:srgbClr val="B0003A"/>
            </a:solidFill>
            <a:prstDash val="solid"/>
          </a:ln>
        </p:spPr>
        <p:txBody>
          <a:bodyPr/>
          <a:lstStyle/>
          <a:p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</Words>
  <Application>Microsoft Office PowerPoint</Application>
  <PresentationFormat>와이드스크린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LG Smart_H2.0 R</vt:lpstr>
      <vt:lpstr>LG Smart_H2.0 R</vt:lpstr>
      <vt:lpstr>Malgun Gothic</vt:lpstr>
      <vt:lpstr>Malgun Gothic</vt:lpstr>
      <vt:lpstr>Aptos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Report 중간 결과보고서 - editable fixed</dc:title>
  <dc:subject>Editable, cleaned conversion of Oracle Report PDF</dc:subject>
  <dc:creator>OpenAI</dc:creator>
  <cp:lastModifiedBy>김승진/연구원/키친솔루션인공지능가전Project</cp:lastModifiedBy>
  <cp:revision>1</cp:revision>
  <dcterms:created xsi:type="dcterms:W3CDTF">2026-06-25T08:00:11Z</dcterms:created>
  <dcterms:modified xsi:type="dcterms:W3CDTF">2026-06-26T01:40:54Z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2026-06-25T08:10:36Z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daa04854-7ea5-48c2-a576-11040a1d838d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10, 3, 0, 2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LGE Internal Use Only</vt:lpwstr>
  </property>
</Properties>
</file>